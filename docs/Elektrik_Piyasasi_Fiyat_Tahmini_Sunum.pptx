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63"/>
  </p:normalViewPr>
  <p:slideViewPr>
    <p:cSldViewPr snapToGrid="0" snapToObjects="1">
      <p:cViewPr varScale="1">
        <p:scale>
          <a:sx n="117" d="100"/>
          <a:sy n="117" d="100"/>
        </p:scale>
        <p:origin x="552"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12874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 çalışmada İspanya elektrik piyasasının saatlik gün öncesi fiyatı tahmin ediliyor. Karşılaştırma olarak dünün aynı saatindeki fiyat kullanılıyor.</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 çalışmada İspanya elektrik piyasasının saatlik gün öncesi fiyatı tahmin ediliyor. Karşılaştırma olarak dünün aynı saatindeki fiyat kullanılıyor. Geçmiş fiyat, tüketim, üretim, hava ve gün öncesi tahminlerle sızıntısız bir zaman serisi modeli kuruluyor ve bu basit kopyalamadan daha iyi sonuç alınıp alınmadığına bakılıyor.</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Enerji piyasası ve hava verisi birleştirildi. Yalnızca gün öncesi ihalenin yapıldığı anda elde olan bilgiler kullanıldı. Aynı saatin gerçekleşen tüketimi ve gerçekleşen fiyatı özellik olarak alınmadı. Üretim ve yük, arz ile talebi taşıdığı için; hava, rüzgâr ve güneşi etkilediği için; resmi gün öncesi tahminler de operatörün elindeki bilgi olduğu için kullanıldı. Fiyat gecikmesi olarak dün, iki gün önce ve geçen haftanın aynı saati alındı. Bir saat önceki fiyat kullanılmadı, çünkü ihale anında o fiyat henüz yoktu.</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Modeller, test seti açılmadan walk-forward ortalama mutlak hata ile karşılaştırıldı. Düşük çubuk daha iyidir. Naive tabanın yanında Ridge, LightGBM ve XGBoost denendi. En düşük hata Ridge tabanlı birleşik modelde alındığı için bu model seçildi.</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Ridge ana regresyon modeli olarak kullanılıyor. Çoklu doğrusal bağlantının etkisini azaltarak üretim, tüketim ve hava durumu gibi değişkenlerden fiyat tahmini yapıyor. METHOD_B ile Ridge’in yakalayamadığı ek yapı modellenecek şekilde ekleniyor; tahmin bu bileşenle iyileştiriliyor. AR(1) ile Ridge artığındaki bir önceki zaman adımı kullanılarak zamansal bağımlılık yakalanıyor.</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Test seti yalnızca bir kez açıldı. Seçilen modelin ortalama mutlak hatası 3,99 euro, Naive tabanınki 6,05 euro; hata yaklaşık yüzde 34 daha düşük. Bu grafikte gerçek fiyatlarla tahmin karşılaştırılıyor. Henüz oluşmamış gelecek saatler için tahmin üretilmedi.</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Artık, tahminden gerçeğin çıkarılmasıyla hesaplanıyor. Pozitif değer aşırı tahmini, negatif değer eksik tahmini gösteriyor. Hata rastgele dağılmıyor. Test döneminde model ortalama olarak biraz yüksek tahmin ediyor ve yüksek fiyatlı saatlerde sapma devam ediyor. Bu yüzden model üretime hazır sayılmıyor. Geliştirme döneminde yüksek fiyatlarda eksik tahmin görüldü. Kilitli testte sapma tersine döndü ve model biraz yüksek tahmin etmeye başladı. Yüksek fiyatlı saatlerdeki hata iki dönemde de çözülemedi.</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SHAP ile modelin hangi değişkenlere daha çok yaslandığına bakılıyor; bu neden-sonuç kanıtlamaz. En güçlü sinyaller geçmiş fiyatlar ve gün öncesi resmi tahminler olarak görülüyor. Ay ve yılın günü gibi takvim değişkenleri tek başına fiyat sürücüsü gibi okunmuyor, çünkü birbirine bağlılar.</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 sonuca güvenmek için bilgi sızıntısı kapatıldı. Veri zamana göre bölündü ve satırlar karıştırılmadı. Aynı saatin gerçekleşen değerleri ve gerçekleşen piyasa fiyatı özellik olarak kullanılmadı. Model walk-forward ile seçildi; test seti ayar için kullanılmadı ve yalnızca bir kez ölçüldü.</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Sızıntısız bir tahmin hattı kuruldu ve dünün aynı saatini kopyalayan Naive taban geçildi. Model olarak Ridge, METHOD_B ve AR(1) birleşimi seçildi. Kilitli testte ortalama mutlak hata yaklaşık yüzde 34 düşürüldü. Yüksek fiyatlı saatlerdeki hata çözülemedi; veri 2014–2018 aralığında ve test tek bir kilitli dönemde ölçüldü.</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8/28/26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F2A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64592" cy="6858000"/>
          </a:xfrm>
          <a:prstGeom prst="rect">
            <a:avLst/>
          </a:prstGeom>
          <a:solidFill>
            <a:srgbClr val="1F4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874519"/>
            <a:ext cx="10424160" cy="365760"/>
          </a:xfrm>
          <a:prstGeom prst="rect">
            <a:avLst/>
          </a:prstGeom>
          <a:noFill/>
        </p:spPr>
        <p:txBody>
          <a:bodyPr wrap="none">
            <a:spAutoFit/>
          </a:bodyPr>
          <a:lstStyle/>
          <a:p>
            <a:pPr algn="l"/>
            <a:r>
              <a:rPr sz="1400" b="1">
                <a:solidFill>
                  <a:srgbClr val="8AA0C2"/>
                </a:solidFill>
                <a:latin typeface="Calibri"/>
              </a:rPr>
              <a:t>BİTİRME PROJESİ SUNUMU</a:t>
            </a:r>
          </a:p>
        </p:txBody>
      </p:sp>
      <p:sp>
        <p:nvSpPr>
          <p:cNvPr id="5" name="TextBox 4"/>
          <p:cNvSpPr txBox="1"/>
          <p:nvPr/>
        </p:nvSpPr>
        <p:spPr>
          <a:xfrm>
            <a:off x="822960" y="2240280"/>
            <a:ext cx="10515600" cy="1188720"/>
          </a:xfrm>
          <a:prstGeom prst="rect">
            <a:avLst/>
          </a:prstGeom>
          <a:noFill/>
        </p:spPr>
        <p:txBody>
          <a:bodyPr wrap="none">
            <a:spAutoFit/>
          </a:bodyPr>
          <a:lstStyle/>
          <a:p>
            <a:pPr algn="l"/>
            <a:r>
              <a:rPr sz="4000" b="1">
                <a:solidFill>
                  <a:srgbClr val="FFFFFF"/>
                </a:solidFill>
                <a:latin typeface="Calibri"/>
              </a:rPr>
              <a:t>Elektrik Piyasası Fiyat Tahmini</a:t>
            </a:r>
          </a:p>
        </p:txBody>
      </p:sp>
      <p:sp>
        <p:nvSpPr>
          <p:cNvPr id="6" name="TextBox 5"/>
          <p:cNvSpPr txBox="1"/>
          <p:nvPr/>
        </p:nvSpPr>
        <p:spPr>
          <a:xfrm>
            <a:off x="822960" y="3429000"/>
            <a:ext cx="10515600" cy="502920"/>
          </a:xfrm>
          <a:prstGeom prst="rect">
            <a:avLst/>
          </a:prstGeom>
          <a:noFill/>
        </p:spPr>
        <p:txBody>
          <a:bodyPr wrap="none">
            <a:spAutoFit/>
          </a:bodyPr>
          <a:lstStyle/>
          <a:p>
            <a:pPr algn="l"/>
            <a:r>
              <a:rPr sz="2000" b="0">
                <a:solidFill>
                  <a:srgbClr val="C5D0E0"/>
                </a:solidFill>
                <a:latin typeface="Calibri"/>
              </a:rPr>
              <a:t>İspanya gün öncesi piyasası  ·  saatlik fiyat (€/MWh)  ·  2014–2018</a:t>
            </a:r>
          </a:p>
        </p:txBody>
      </p:sp>
      <p:sp>
        <p:nvSpPr>
          <p:cNvPr id="7" name="TextBox 6"/>
          <p:cNvSpPr txBox="1"/>
          <p:nvPr/>
        </p:nvSpPr>
        <p:spPr>
          <a:xfrm>
            <a:off x="822960" y="4892040"/>
            <a:ext cx="10515600" cy="365760"/>
          </a:xfrm>
          <a:prstGeom prst="rect">
            <a:avLst/>
          </a:prstGeom>
          <a:noFill/>
        </p:spPr>
        <p:txBody>
          <a:bodyPr wrap="none">
            <a:spAutoFit/>
          </a:bodyPr>
          <a:lstStyle/>
          <a:p>
            <a:pPr algn="l"/>
            <a:r>
              <a:rPr sz="1800" b="1">
                <a:solidFill>
                  <a:srgbClr val="FFFFFF"/>
                </a:solidFill>
                <a:latin typeface="Calibri"/>
              </a:rPr>
              <a:t>Ridge (α = 0.001)  +  METHOD_B  +  AR(1)</a:t>
            </a:r>
          </a:p>
        </p:txBody>
      </p:sp>
      <p:pic>
        <p:nvPicPr>
          <p:cNvPr id="8" name="Picture 7" descr="logo_softito.png"/>
          <p:cNvPicPr>
            <a:picLocks noChangeAspect="1"/>
          </p:cNvPicPr>
          <p:nvPr/>
        </p:nvPicPr>
        <p:blipFill>
          <a:blip r:embed="rId3"/>
          <a:stretch>
            <a:fillRect/>
          </a:stretch>
        </p:blipFill>
        <p:spPr>
          <a:xfrm>
            <a:off x="9646920" y="320040"/>
            <a:ext cx="971363" cy="65836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F4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
            <a:ext cx="10972800" cy="292608"/>
          </a:xfrm>
          <a:prstGeom prst="rect">
            <a:avLst/>
          </a:prstGeom>
          <a:noFill/>
        </p:spPr>
        <p:txBody>
          <a:bodyPr wrap="none">
            <a:spAutoFit/>
          </a:bodyPr>
          <a:lstStyle/>
          <a:p>
            <a:pPr algn="l"/>
            <a:r>
              <a:rPr sz="1200" b="1">
                <a:solidFill>
                  <a:srgbClr val="5B6B84"/>
                </a:solidFill>
                <a:latin typeface="Calibri"/>
              </a:rPr>
              <a:t>01  ·  PROBLEM VE AMAÇ</a:t>
            </a:r>
          </a:p>
        </p:txBody>
      </p:sp>
      <p:sp>
        <p:nvSpPr>
          <p:cNvPr id="4" name="TextBox 3"/>
          <p:cNvSpPr txBox="1"/>
          <p:nvPr/>
        </p:nvSpPr>
        <p:spPr>
          <a:xfrm>
            <a:off x="548640" y="475488"/>
            <a:ext cx="11064240" cy="502920"/>
          </a:xfrm>
          <a:prstGeom prst="rect">
            <a:avLst/>
          </a:prstGeom>
          <a:noFill/>
        </p:spPr>
        <p:txBody>
          <a:bodyPr wrap="none">
            <a:spAutoFit/>
          </a:bodyPr>
          <a:lstStyle/>
          <a:p>
            <a:pPr algn="l"/>
            <a:r>
              <a:rPr sz="2800" b="1">
                <a:solidFill>
                  <a:srgbClr val="1F2A44"/>
                </a:solidFill>
                <a:latin typeface="Calibri"/>
              </a:rPr>
              <a:t>Ne tahmin ediliyor?</a:t>
            </a:r>
          </a:p>
        </p:txBody>
      </p:sp>
      <p:sp>
        <p:nvSpPr>
          <p:cNvPr id="5" name="Rounded Rectangle 4"/>
          <p:cNvSpPr/>
          <p:nvPr/>
        </p:nvSpPr>
        <p:spPr>
          <a:xfrm>
            <a:off x="548640" y="1097280"/>
            <a:ext cx="11064240" cy="1051560"/>
          </a:xfrm>
          <a:prstGeom prst="roundRect">
            <a:avLst>
              <a:gd name="adj" fmla="val 8000"/>
            </a:avLst>
          </a:prstGeom>
          <a:solidFill>
            <a:srgbClr val="F3F6FB"/>
          </a:solidFill>
          <a:ln>
            <a:solidFill>
              <a:srgbClr val="1F4E9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2200" b="1">
                <a:solidFill>
                  <a:srgbClr val="1F4E9B"/>
                </a:solidFill>
                <a:latin typeface="Calibri"/>
              </a:rPr>
              <a:t>Model, sadece dünün aynı saatindeki fiyatı kullanmaktan daha iyi tahmin yapabilir mi?</a:t>
            </a:r>
          </a:p>
        </p:txBody>
      </p:sp>
      <p:sp>
        <p:nvSpPr>
          <p:cNvPr id="6" name="Rounded Rectangle 5"/>
          <p:cNvSpPr/>
          <p:nvPr/>
        </p:nvSpPr>
        <p:spPr>
          <a:xfrm>
            <a:off x="548640" y="2377440"/>
            <a:ext cx="3566160" cy="1143000"/>
          </a:xfrm>
          <a:prstGeom prst="roundRect">
            <a:avLst>
              <a:gd name="adj" fmla="val 8000"/>
            </a:avLst>
          </a:prstGeom>
          <a:solidFill>
            <a:srgbClr val="F3F6FB"/>
          </a:solidFill>
          <a:ln w="15875">
            <a:solidFill>
              <a:srgbClr val="1F4E9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200" b="0">
                <a:solidFill>
                  <a:srgbClr val="5B6B84"/>
                </a:solidFill>
                <a:latin typeface="Calibri"/>
              </a:rPr>
              <a:t>Hedef</a:t>
            </a:r>
          </a:p>
          <a:p>
            <a:pPr>
              <a:spcBef>
                <a:spcPts val="400"/>
              </a:spcBef>
            </a:pPr>
            <a:r>
              <a:rPr sz="2200" b="1">
                <a:solidFill>
                  <a:srgbClr val="1F4E9B"/>
                </a:solidFill>
                <a:latin typeface="Calibri"/>
              </a:rPr>
              <a:t>Gün öncesi fiyat (€/MWh)</a:t>
            </a:r>
          </a:p>
        </p:txBody>
      </p:sp>
      <p:sp>
        <p:nvSpPr>
          <p:cNvPr id="7" name="Rounded Rectangle 6"/>
          <p:cNvSpPr/>
          <p:nvPr/>
        </p:nvSpPr>
        <p:spPr>
          <a:xfrm>
            <a:off x="4297680" y="2377440"/>
            <a:ext cx="2331720" cy="1143000"/>
          </a:xfrm>
          <a:prstGeom prst="roundRect">
            <a:avLst>
              <a:gd name="adj" fmla="val 8000"/>
            </a:avLst>
          </a:prstGeom>
          <a:solidFill>
            <a:srgbClr val="FFFFFF"/>
          </a:solidFill>
          <a:ln w="15875">
            <a:solidFill>
              <a:srgbClr val="D7DEE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200" b="0">
                <a:solidFill>
                  <a:srgbClr val="5B6B84"/>
                </a:solidFill>
                <a:latin typeface="Calibri"/>
              </a:rPr>
              <a:t>Gözlem</a:t>
            </a:r>
          </a:p>
          <a:p>
            <a:pPr>
              <a:spcBef>
                <a:spcPts val="400"/>
              </a:spcBef>
            </a:pPr>
            <a:r>
              <a:rPr sz="2200" b="1">
                <a:solidFill>
                  <a:srgbClr val="1F2A44"/>
                </a:solidFill>
                <a:latin typeface="Calibri"/>
              </a:rPr>
              <a:t>35.064 saat</a:t>
            </a:r>
          </a:p>
        </p:txBody>
      </p:sp>
      <p:sp>
        <p:nvSpPr>
          <p:cNvPr id="8" name="Rounded Rectangle 7"/>
          <p:cNvSpPr/>
          <p:nvPr/>
        </p:nvSpPr>
        <p:spPr>
          <a:xfrm>
            <a:off x="6812280" y="2377440"/>
            <a:ext cx="2331720" cy="1143000"/>
          </a:xfrm>
          <a:prstGeom prst="roundRect">
            <a:avLst>
              <a:gd name="adj" fmla="val 8000"/>
            </a:avLst>
          </a:prstGeom>
          <a:solidFill>
            <a:srgbClr val="FFFFFF"/>
          </a:solidFill>
          <a:ln w="15875">
            <a:solidFill>
              <a:srgbClr val="D7DEE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200" b="0">
                <a:solidFill>
                  <a:srgbClr val="5B6B84"/>
                </a:solidFill>
                <a:latin typeface="Calibri"/>
              </a:rPr>
              <a:t>Dönem</a:t>
            </a:r>
          </a:p>
          <a:p>
            <a:pPr>
              <a:spcBef>
                <a:spcPts val="400"/>
              </a:spcBef>
            </a:pPr>
            <a:r>
              <a:rPr sz="2200" b="1">
                <a:solidFill>
                  <a:srgbClr val="1F2A44"/>
                </a:solidFill>
                <a:latin typeface="Calibri"/>
              </a:rPr>
              <a:t>2014–2018</a:t>
            </a:r>
          </a:p>
        </p:txBody>
      </p:sp>
      <p:sp>
        <p:nvSpPr>
          <p:cNvPr id="9" name="Rounded Rectangle 8"/>
          <p:cNvSpPr/>
          <p:nvPr/>
        </p:nvSpPr>
        <p:spPr>
          <a:xfrm>
            <a:off x="9326880" y="2377440"/>
            <a:ext cx="2286000" cy="1143000"/>
          </a:xfrm>
          <a:prstGeom prst="roundRect">
            <a:avLst>
              <a:gd name="adj" fmla="val 8000"/>
            </a:avLst>
          </a:prstGeom>
          <a:solidFill>
            <a:srgbClr val="FFFFFF"/>
          </a:solidFill>
          <a:ln w="15875">
            <a:solidFill>
              <a:srgbClr val="D7DEE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200" b="0">
                <a:solidFill>
                  <a:srgbClr val="5B6B84"/>
                </a:solidFill>
                <a:latin typeface="Calibri"/>
              </a:rPr>
              <a:t>Piyasa</a:t>
            </a:r>
          </a:p>
          <a:p>
            <a:pPr>
              <a:spcBef>
                <a:spcPts val="400"/>
              </a:spcBef>
            </a:pPr>
            <a:r>
              <a:rPr sz="2200" b="1">
                <a:solidFill>
                  <a:srgbClr val="1F2A44"/>
                </a:solidFill>
                <a:latin typeface="Calibri"/>
              </a:rPr>
              <a:t>İspanya</a:t>
            </a:r>
          </a:p>
        </p:txBody>
      </p:sp>
      <p:sp>
        <p:nvSpPr>
          <p:cNvPr id="10" name="TextBox 9"/>
          <p:cNvSpPr txBox="1"/>
          <p:nvPr/>
        </p:nvSpPr>
        <p:spPr>
          <a:xfrm>
            <a:off x="548640" y="3794760"/>
            <a:ext cx="11064240" cy="2286000"/>
          </a:xfrm>
          <a:prstGeom prst="rect">
            <a:avLst/>
          </a:prstGeom>
          <a:noFill/>
        </p:spPr>
        <p:txBody>
          <a:bodyPr wrap="square">
            <a:spAutoFit/>
          </a:bodyPr>
          <a:lstStyle/>
          <a:p>
            <a:pPr algn="l"/>
            <a:r>
              <a:rPr sz="1800" b="0">
                <a:solidFill>
                  <a:srgbClr val="1F2A44"/>
                </a:solidFill>
                <a:latin typeface="Calibri"/>
              </a:rPr>
              <a:t>Bu çalışmada İspanya elektrik piyasasının saatlik gün öncesi fiyatı tahmin ediliyor. Karşılaştırma olarak dünün aynı saatindeki fiyat kullanılıyor. Geçmiş fiyat, tüketim, üretim, hava ve gün öncesi tahminlerle sızıntısız bir zaman serisi modeli kuruluyor ve bu basit kopyalamadan daha iyi sonuç alınıp alınmadığına bakılıyor.</a:t>
            </a:r>
          </a:p>
        </p:txBody>
      </p:sp>
      <p:sp>
        <p:nvSpPr>
          <p:cNvPr id="11" name="TextBox 10"/>
          <p:cNvSpPr txBox="1"/>
          <p:nvPr/>
        </p:nvSpPr>
        <p:spPr>
          <a:xfrm>
            <a:off x="548640" y="6537960"/>
            <a:ext cx="10515600" cy="256032"/>
          </a:xfrm>
          <a:prstGeom prst="rect">
            <a:avLst/>
          </a:prstGeom>
          <a:noFill/>
        </p:spPr>
        <p:txBody>
          <a:bodyPr wrap="none">
            <a:spAutoFit/>
          </a:bodyPr>
          <a:lstStyle/>
          <a:p>
            <a:pPr algn="l"/>
            <a:r>
              <a:rPr sz="1100" b="0">
                <a:solidFill>
                  <a:srgbClr val="5B6B84"/>
                </a:solidFill>
                <a:latin typeface="Calibri"/>
              </a:rPr>
              <a:t>Elektrik Piyasası Fiyat Tahmini   ·   2 / 10</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F4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
            <a:ext cx="10972800" cy="292608"/>
          </a:xfrm>
          <a:prstGeom prst="rect">
            <a:avLst/>
          </a:prstGeom>
          <a:noFill/>
        </p:spPr>
        <p:txBody>
          <a:bodyPr wrap="none">
            <a:spAutoFit/>
          </a:bodyPr>
          <a:lstStyle/>
          <a:p>
            <a:pPr algn="l"/>
            <a:r>
              <a:rPr sz="1200" b="1">
                <a:solidFill>
                  <a:srgbClr val="5B6B84"/>
                </a:solidFill>
                <a:latin typeface="Calibri"/>
              </a:rPr>
              <a:t>02  ·  VERI VE ÖZELLIKLER</a:t>
            </a:r>
          </a:p>
        </p:txBody>
      </p:sp>
      <p:sp>
        <p:nvSpPr>
          <p:cNvPr id="4" name="TextBox 3"/>
          <p:cNvSpPr txBox="1"/>
          <p:nvPr/>
        </p:nvSpPr>
        <p:spPr>
          <a:xfrm>
            <a:off x="548640" y="475488"/>
            <a:ext cx="11064240" cy="502920"/>
          </a:xfrm>
          <a:prstGeom prst="rect">
            <a:avLst/>
          </a:prstGeom>
          <a:noFill/>
        </p:spPr>
        <p:txBody>
          <a:bodyPr wrap="none">
            <a:spAutoFit/>
          </a:bodyPr>
          <a:lstStyle/>
          <a:p>
            <a:pPr algn="l"/>
            <a:r>
              <a:rPr sz="2800" b="1">
                <a:solidFill>
                  <a:srgbClr val="1F2A44"/>
                </a:solidFill>
                <a:latin typeface="Calibri"/>
              </a:rPr>
              <a:t>Hangi veriler kullanıldı?</a:t>
            </a:r>
          </a:p>
        </p:txBody>
      </p:sp>
      <p:sp>
        <p:nvSpPr>
          <p:cNvPr id="5" name="Rounded Rectangle 4"/>
          <p:cNvSpPr/>
          <p:nvPr/>
        </p:nvSpPr>
        <p:spPr>
          <a:xfrm>
            <a:off x="548640" y="1097280"/>
            <a:ext cx="3566160" cy="1005840"/>
          </a:xfrm>
          <a:prstGeom prst="roundRect">
            <a:avLst>
              <a:gd name="adj" fmla="val 8000"/>
            </a:avLst>
          </a:prstGeom>
          <a:solidFill>
            <a:srgbClr val="FFFFFF"/>
          </a:solidFill>
          <a:ln w="15875">
            <a:solidFill>
              <a:srgbClr val="D7DEE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200" b="0">
                <a:solidFill>
                  <a:srgbClr val="5B6B84"/>
                </a:solidFill>
                <a:latin typeface="Calibri"/>
              </a:rPr>
              <a:t>Enerji gözlemi</a:t>
            </a:r>
          </a:p>
          <a:p>
            <a:pPr>
              <a:spcBef>
                <a:spcPts val="400"/>
              </a:spcBef>
            </a:pPr>
            <a:r>
              <a:rPr sz="2200" b="1">
                <a:solidFill>
                  <a:srgbClr val="1F2A44"/>
                </a:solidFill>
                <a:latin typeface="Calibri"/>
              </a:rPr>
              <a:t>35.064</a:t>
            </a:r>
          </a:p>
        </p:txBody>
      </p:sp>
      <p:sp>
        <p:nvSpPr>
          <p:cNvPr id="6" name="Rounded Rectangle 5"/>
          <p:cNvSpPr/>
          <p:nvPr/>
        </p:nvSpPr>
        <p:spPr>
          <a:xfrm>
            <a:off x="4297680" y="1097280"/>
            <a:ext cx="3566160" cy="1005840"/>
          </a:xfrm>
          <a:prstGeom prst="roundRect">
            <a:avLst>
              <a:gd name="adj" fmla="val 8000"/>
            </a:avLst>
          </a:prstGeom>
          <a:solidFill>
            <a:srgbClr val="FFFFFF"/>
          </a:solidFill>
          <a:ln w="15875">
            <a:solidFill>
              <a:srgbClr val="D7DEE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200" b="0">
                <a:solidFill>
                  <a:srgbClr val="5B6B84"/>
                </a:solidFill>
                <a:latin typeface="Calibri"/>
              </a:rPr>
              <a:t>Hava kaydı</a:t>
            </a:r>
          </a:p>
          <a:p>
            <a:pPr>
              <a:spcBef>
                <a:spcPts val="400"/>
              </a:spcBef>
            </a:pPr>
            <a:r>
              <a:rPr sz="2200" b="1">
                <a:solidFill>
                  <a:srgbClr val="1F2A44"/>
                </a:solidFill>
                <a:latin typeface="Calibri"/>
              </a:rPr>
              <a:t>178.396</a:t>
            </a:r>
          </a:p>
        </p:txBody>
      </p:sp>
      <p:sp>
        <p:nvSpPr>
          <p:cNvPr id="7" name="Rounded Rectangle 6"/>
          <p:cNvSpPr/>
          <p:nvPr/>
        </p:nvSpPr>
        <p:spPr>
          <a:xfrm>
            <a:off x="8046720" y="1097280"/>
            <a:ext cx="3566160" cy="1005840"/>
          </a:xfrm>
          <a:prstGeom prst="roundRect">
            <a:avLst>
              <a:gd name="adj" fmla="val 8000"/>
            </a:avLst>
          </a:prstGeom>
          <a:solidFill>
            <a:srgbClr val="FFFFFF"/>
          </a:solidFill>
          <a:ln w="15875">
            <a:solidFill>
              <a:srgbClr val="D7DEE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200" b="0">
                <a:solidFill>
                  <a:srgbClr val="5B6B84"/>
                </a:solidFill>
                <a:latin typeface="Calibri"/>
              </a:rPr>
              <a:t>Sızıntısız özellik</a:t>
            </a:r>
          </a:p>
          <a:p>
            <a:pPr>
              <a:spcBef>
                <a:spcPts val="400"/>
              </a:spcBef>
            </a:pPr>
            <a:r>
              <a:rPr sz="2200" b="1">
                <a:solidFill>
                  <a:srgbClr val="1F2A44"/>
                </a:solidFill>
                <a:latin typeface="Calibri"/>
              </a:rPr>
              <a:t>184+</a:t>
            </a:r>
          </a:p>
        </p:txBody>
      </p:sp>
      <p:sp>
        <p:nvSpPr>
          <p:cNvPr id="8" name="Rounded Rectangle 7"/>
          <p:cNvSpPr/>
          <p:nvPr/>
        </p:nvSpPr>
        <p:spPr>
          <a:xfrm>
            <a:off x="548640" y="2286000"/>
            <a:ext cx="2121408" cy="640080"/>
          </a:xfrm>
          <a:prstGeom prst="roundRect">
            <a:avLst>
              <a:gd name="adj" fmla="val 8000"/>
            </a:avLst>
          </a:prstGeom>
          <a:solidFill>
            <a:srgbClr val="FFFFFF"/>
          </a:solidFill>
          <a:ln>
            <a:solidFill>
              <a:srgbClr val="D7D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F2A44"/>
                </a:solidFill>
                <a:latin typeface="Calibri"/>
              </a:rPr>
              <a:t>Üretim</a:t>
            </a:r>
          </a:p>
        </p:txBody>
      </p:sp>
      <p:sp>
        <p:nvSpPr>
          <p:cNvPr id="9" name="Rounded Rectangle 8"/>
          <p:cNvSpPr/>
          <p:nvPr/>
        </p:nvSpPr>
        <p:spPr>
          <a:xfrm>
            <a:off x="2798064" y="2286000"/>
            <a:ext cx="2121408" cy="640080"/>
          </a:xfrm>
          <a:prstGeom prst="roundRect">
            <a:avLst>
              <a:gd name="adj" fmla="val 8000"/>
            </a:avLst>
          </a:prstGeom>
          <a:solidFill>
            <a:srgbClr val="FFFFFF"/>
          </a:solidFill>
          <a:ln>
            <a:solidFill>
              <a:srgbClr val="D7D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F2A44"/>
                </a:solidFill>
                <a:latin typeface="Calibri"/>
              </a:rPr>
              <a:t>Yük / Tüketim</a:t>
            </a:r>
          </a:p>
        </p:txBody>
      </p:sp>
      <p:sp>
        <p:nvSpPr>
          <p:cNvPr id="10" name="Rounded Rectangle 9"/>
          <p:cNvSpPr/>
          <p:nvPr/>
        </p:nvSpPr>
        <p:spPr>
          <a:xfrm>
            <a:off x="5047488" y="2286000"/>
            <a:ext cx="2121408" cy="640080"/>
          </a:xfrm>
          <a:prstGeom prst="roundRect">
            <a:avLst>
              <a:gd name="adj" fmla="val 8000"/>
            </a:avLst>
          </a:prstGeom>
          <a:solidFill>
            <a:srgbClr val="FFFFFF"/>
          </a:solidFill>
          <a:ln>
            <a:solidFill>
              <a:srgbClr val="D7D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F2A44"/>
                </a:solidFill>
                <a:latin typeface="Calibri"/>
              </a:rPr>
              <a:t>Hava</a:t>
            </a:r>
          </a:p>
        </p:txBody>
      </p:sp>
      <p:sp>
        <p:nvSpPr>
          <p:cNvPr id="11" name="Rounded Rectangle 10"/>
          <p:cNvSpPr/>
          <p:nvPr/>
        </p:nvSpPr>
        <p:spPr>
          <a:xfrm>
            <a:off x="7296912" y="2286000"/>
            <a:ext cx="2121408" cy="640080"/>
          </a:xfrm>
          <a:prstGeom prst="roundRect">
            <a:avLst>
              <a:gd name="adj" fmla="val 8000"/>
            </a:avLst>
          </a:prstGeom>
          <a:solidFill>
            <a:srgbClr val="FFFFFF"/>
          </a:solidFill>
          <a:ln>
            <a:solidFill>
              <a:srgbClr val="D7D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F2A44"/>
                </a:solidFill>
                <a:latin typeface="Calibri"/>
              </a:rPr>
              <a:t>Gün öncesi tahmin</a:t>
            </a:r>
          </a:p>
        </p:txBody>
      </p:sp>
      <p:sp>
        <p:nvSpPr>
          <p:cNvPr id="12" name="Rounded Rectangle 11"/>
          <p:cNvSpPr/>
          <p:nvPr/>
        </p:nvSpPr>
        <p:spPr>
          <a:xfrm>
            <a:off x="9546336" y="2286000"/>
            <a:ext cx="2121408" cy="640080"/>
          </a:xfrm>
          <a:prstGeom prst="roundRect">
            <a:avLst>
              <a:gd name="adj" fmla="val 8000"/>
            </a:avLst>
          </a:prstGeom>
          <a:solidFill>
            <a:srgbClr val="FFFFFF"/>
          </a:solidFill>
          <a:ln>
            <a:solidFill>
              <a:srgbClr val="D7D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F2A44"/>
                </a:solidFill>
                <a:latin typeface="Calibri"/>
              </a:rPr>
              <a:t>Piyasa fiyatı</a:t>
            </a:r>
          </a:p>
        </p:txBody>
      </p:sp>
      <p:sp>
        <p:nvSpPr>
          <p:cNvPr id="13" name="TextBox 12"/>
          <p:cNvSpPr txBox="1"/>
          <p:nvPr/>
        </p:nvSpPr>
        <p:spPr>
          <a:xfrm>
            <a:off x="548640" y="3108960"/>
            <a:ext cx="11064240" cy="3017520"/>
          </a:xfrm>
          <a:prstGeom prst="rect">
            <a:avLst/>
          </a:prstGeom>
          <a:noFill/>
        </p:spPr>
        <p:txBody>
          <a:bodyPr wrap="square">
            <a:spAutoFit/>
          </a:bodyPr>
          <a:lstStyle/>
          <a:p>
            <a:pPr algn="l"/>
            <a:r>
              <a:rPr sz="1700" b="0">
                <a:solidFill>
                  <a:srgbClr val="1F2A44"/>
                </a:solidFill>
                <a:latin typeface="Calibri"/>
              </a:rPr>
              <a:t>Enerji piyasası ve hava verisi birleştirildi. Yalnızca gün öncesi ihalenin yapıldığı anda elde olan bilgiler kullanıldı. Aynı saatin gerçekleşen tüketimi ve gerçekleşen fiyatı özellik olarak alınmadı.</a:t>
            </a:r>
          </a:p>
          <a:p>
            <a:pPr>
              <a:spcBef>
                <a:spcPts val="1200"/>
              </a:spcBef>
              <a:spcAft>
                <a:spcPts val="400"/>
              </a:spcAft>
            </a:pPr>
            <a:r>
              <a:rPr sz="1700" b="0">
                <a:solidFill>
                  <a:srgbClr val="1F2A44"/>
                </a:solidFill>
                <a:latin typeface="Calibri"/>
              </a:rPr>
              <a:t>Üretim ve yük, arz ile talebi taşıdığı için; hava, rüzgâr ve güneşi etkilediği için; resmi gün öncesi tahminler de operatörün elindeki bilgi olduğu için kullanıldı.</a:t>
            </a:r>
          </a:p>
          <a:p>
            <a:pPr>
              <a:spcBef>
                <a:spcPts val="800"/>
              </a:spcBef>
              <a:spcAft>
                <a:spcPts val="400"/>
              </a:spcAft>
            </a:pPr>
            <a:r>
              <a:rPr sz="1700" b="0">
                <a:solidFill>
                  <a:srgbClr val="1F2A44"/>
                </a:solidFill>
                <a:latin typeface="Calibri"/>
              </a:rPr>
              <a:t>Fiyat gecikmesi olarak dün, iki gün önce ve geçen haftanın aynı saati alındı (t-24 · t-48 · t-168). Bir saat önceki fiyat kullanılmadı, çünkü ihale anında o fiyat henüz yoktu.</a:t>
            </a:r>
          </a:p>
        </p:txBody>
      </p:sp>
      <p:sp>
        <p:nvSpPr>
          <p:cNvPr id="14" name="TextBox 13"/>
          <p:cNvSpPr txBox="1"/>
          <p:nvPr/>
        </p:nvSpPr>
        <p:spPr>
          <a:xfrm>
            <a:off x="548640" y="6537960"/>
            <a:ext cx="10515600" cy="256032"/>
          </a:xfrm>
          <a:prstGeom prst="rect">
            <a:avLst/>
          </a:prstGeom>
          <a:noFill/>
        </p:spPr>
        <p:txBody>
          <a:bodyPr wrap="none">
            <a:spAutoFit/>
          </a:bodyPr>
          <a:lstStyle/>
          <a:p>
            <a:pPr algn="l"/>
            <a:r>
              <a:rPr sz="1100" b="0">
                <a:solidFill>
                  <a:srgbClr val="5B6B84"/>
                </a:solidFill>
                <a:latin typeface="Calibri"/>
              </a:rPr>
              <a:t>Elektrik Piyasası Fiyat Tahmini   ·   3 / 10</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F4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
            <a:ext cx="10972800" cy="292608"/>
          </a:xfrm>
          <a:prstGeom prst="rect">
            <a:avLst/>
          </a:prstGeom>
          <a:noFill/>
        </p:spPr>
        <p:txBody>
          <a:bodyPr wrap="none">
            <a:spAutoFit/>
          </a:bodyPr>
          <a:lstStyle/>
          <a:p>
            <a:pPr algn="l"/>
            <a:r>
              <a:rPr sz="1200" b="1">
                <a:solidFill>
                  <a:srgbClr val="5B6B84"/>
                </a:solidFill>
                <a:latin typeface="Calibri"/>
              </a:rPr>
              <a:t>03  ·  MODEL SEÇIMI</a:t>
            </a:r>
          </a:p>
        </p:txBody>
      </p:sp>
      <p:sp>
        <p:nvSpPr>
          <p:cNvPr id="4" name="TextBox 3"/>
          <p:cNvSpPr txBox="1"/>
          <p:nvPr/>
        </p:nvSpPr>
        <p:spPr>
          <a:xfrm>
            <a:off x="548640" y="475488"/>
            <a:ext cx="11064240" cy="502920"/>
          </a:xfrm>
          <a:prstGeom prst="rect">
            <a:avLst/>
          </a:prstGeom>
          <a:noFill/>
        </p:spPr>
        <p:txBody>
          <a:bodyPr wrap="none">
            <a:spAutoFit/>
          </a:bodyPr>
          <a:lstStyle/>
          <a:p>
            <a:pPr algn="l"/>
            <a:r>
              <a:rPr sz="2800" b="1">
                <a:solidFill>
                  <a:srgbClr val="1F2A44"/>
                </a:solidFill>
                <a:latin typeface="Calibri"/>
              </a:rPr>
              <a:t>Hangi model seçildi?</a:t>
            </a:r>
          </a:p>
        </p:txBody>
      </p:sp>
      <p:sp>
        <p:nvSpPr>
          <p:cNvPr id="5" name="TextBox 4"/>
          <p:cNvSpPr txBox="1"/>
          <p:nvPr/>
        </p:nvSpPr>
        <p:spPr>
          <a:xfrm>
            <a:off x="548640" y="1005840"/>
            <a:ext cx="11064240" cy="777240"/>
          </a:xfrm>
          <a:prstGeom prst="rect">
            <a:avLst/>
          </a:prstGeom>
          <a:noFill/>
        </p:spPr>
        <p:txBody>
          <a:bodyPr wrap="square">
            <a:spAutoFit/>
          </a:bodyPr>
          <a:lstStyle/>
          <a:p>
            <a:pPr algn="l"/>
            <a:r>
              <a:rPr sz="1600" b="0">
                <a:solidFill>
                  <a:srgbClr val="1F2A44"/>
                </a:solidFill>
                <a:latin typeface="Calibri"/>
              </a:rPr>
              <a:t>Modeller, test seti açılmadan walk-forward ortalama mutlak hata ile karşılaştırıldı. Düşük çubuk daha iyidir. Naive tabanın yanında Ridge, LightGBM ve XGBoost denendi. En düşük hata Ridge tabanlı birleşik modelde alındığı için bu model seçildi.</a:t>
            </a:r>
          </a:p>
        </p:txBody>
      </p:sp>
      <p:pic>
        <p:nvPicPr>
          <p:cNvPr id="6" name="Picture 5" descr="wf_mae.png"/>
          <p:cNvPicPr>
            <a:picLocks noChangeAspect="1"/>
          </p:cNvPicPr>
          <p:nvPr/>
        </p:nvPicPr>
        <p:blipFill>
          <a:blip r:embed="rId3"/>
          <a:stretch>
            <a:fillRect/>
          </a:stretch>
        </p:blipFill>
        <p:spPr>
          <a:xfrm>
            <a:off x="640080" y="1874519"/>
            <a:ext cx="10881360" cy="4169493"/>
          </a:xfrm>
          <a:prstGeom prst="rect">
            <a:avLst/>
          </a:prstGeom>
        </p:spPr>
      </p:pic>
      <p:sp>
        <p:nvSpPr>
          <p:cNvPr id="7" name="TextBox 6"/>
          <p:cNvSpPr txBox="1"/>
          <p:nvPr/>
        </p:nvSpPr>
        <p:spPr>
          <a:xfrm>
            <a:off x="548640" y="6537960"/>
            <a:ext cx="10515600" cy="256032"/>
          </a:xfrm>
          <a:prstGeom prst="rect">
            <a:avLst/>
          </a:prstGeom>
          <a:noFill/>
        </p:spPr>
        <p:txBody>
          <a:bodyPr wrap="none">
            <a:spAutoFit/>
          </a:bodyPr>
          <a:lstStyle/>
          <a:p>
            <a:pPr algn="l"/>
            <a:r>
              <a:rPr sz="1100" b="0">
                <a:solidFill>
                  <a:srgbClr val="5B6B84"/>
                </a:solidFill>
                <a:latin typeface="Calibri"/>
              </a:rPr>
              <a:t>Elektrik Piyasası Fiyat Tahmini   ·   4 / 10</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F4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
            <a:ext cx="10972800" cy="292608"/>
          </a:xfrm>
          <a:prstGeom prst="rect">
            <a:avLst/>
          </a:prstGeom>
          <a:noFill/>
        </p:spPr>
        <p:txBody>
          <a:bodyPr wrap="none">
            <a:spAutoFit/>
          </a:bodyPr>
          <a:lstStyle/>
          <a:p>
            <a:pPr algn="l"/>
            <a:r>
              <a:rPr sz="1200" b="1">
                <a:solidFill>
                  <a:srgbClr val="5B6B84"/>
                </a:solidFill>
                <a:latin typeface="Calibri"/>
              </a:rPr>
              <a:t>03  ·  MODEL SEÇIMI</a:t>
            </a:r>
          </a:p>
        </p:txBody>
      </p:sp>
      <p:sp>
        <p:nvSpPr>
          <p:cNvPr id="4" name="TextBox 3"/>
          <p:cNvSpPr txBox="1"/>
          <p:nvPr/>
        </p:nvSpPr>
        <p:spPr>
          <a:xfrm>
            <a:off x="548640" y="475488"/>
            <a:ext cx="11064240" cy="502920"/>
          </a:xfrm>
          <a:prstGeom prst="rect">
            <a:avLst/>
          </a:prstGeom>
          <a:noFill/>
        </p:spPr>
        <p:txBody>
          <a:bodyPr wrap="none">
            <a:spAutoFit/>
          </a:bodyPr>
          <a:lstStyle/>
          <a:p>
            <a:pPr algn="l"/>
            <a:r>
              <a:rPr sz="2800" b="1">
                <a:solidFill>
                  <a:srgbClr val="1F2A44"/>
                </a:solidFill>
                <a:latin typeface="Calibri"/>
              </a:rPr>
              <a:t>Seçilen model: Ridge + METHOD_B + AR(1)</a:t>
            </a:r>
          </a:p>
        </p:txBody>
      </p:sp>
      <p:sp>
        <p:nvSpPr>
          <p:cNvPr id="5" name="Rounded Rectangle 4"/>
          <p:cNvSpPr/>
          <p:nvPr/>
        </p:nvSpPr>
        <p:spPr>
          <a:xfrm>
            <a:off x="548640" y="1143000"/>
            <a:ext cx="11064240" cy="1444752"/>
          </a:xfrm>
          <a:prstGeom prst="roundRect">
            <a:avLst>
              <a:gd name="adj" fmla="val 8000"/>
            </a:avLst>
          </a:prstGeom>
          <a:solidFill>
            <a:srgbClr val="FFFFFF"/>
          </a:solidFill>
          <a:ln>
            <a:solidFill>
              <a:srgbClr val="1F4E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143000"/>
            <a:ext cx="109728" cy="1444752"/>
          </a:xfrm>
          <a:prstGeom prst="rect">
            <a:avLst/>
          </a:prstGeom>
          <a:solidFill>
            <a:srgbClr val="1F4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234440"/>
            <a:ext cx="10424160" cy="1234440"/>
          </a:xfrm>
          <a:prstGeom prst="rect">
            <a:avLst/>
          </a:prstGeom>
          <a:noFill/>
        </p:spPr>
        <p:txBody>
          <a:bodyPr wrap="square">
            <a:spAutoFit/>
          </a:bodyPr>
          <a:lstStyle/>
          <a:p>
            <a:pPr algn="l"/>
            <a:r>
              <a:rPr sz="2000" b="1">
                <a:solidFill>
                  <a:srgbClr val="1F4E9B"/>
                </a:solidFill>
                <a:latin typeface="Calibri"/>
              </a:rPr>
              <a:t>Ridge (α = 0.001)</a:t>
            </a:r>
          </a:p>
          <a:p>
            <a:pPr>
              <a:spcBef>
                <a:spcPts val="800"/>
              </a:spcBef>
              <a:spcAft>
                <a:spcPts val="400"/>
              </a:spcAft>
            </a:pPr>
            <a:r>
              <a:rPr sz="1700" b="0">
                <a:solidFill>
                  <a:srgbClr val="1F2A44"/>
                </a:solidFill>
                <a:latin typeface="Calibri"/>
              </a:rPr>
              <a:t>Ana regresyon modeli olarak kullanılıyor. Çoklu doğrusal bağlantının etkisini azaltarak üretim, tüketim ve hava durumu gibi değişkenlerden fiyat tahmini yapıyor.</a:t>
            </a:r>
          </a:p>
        </p:txBody>
      </p:sp>
      <p:sp>
        <p:nvSpPr>
          <p:cNvPr id="8" name="Rounded Rectangle 7"/>
          <p:cNvSpPr/>
          <p:nvPr/>
        </p:nvSpPr>
        <p:spPr>
          <a:xfrm>
            <a:off x="548640" y="2743200"/>
            <a:ext cx="11064240" cy="1444752"/>
          </a:xfrm>
          <a:prstGeom prst="roundRect">
            <a:avLst>
              <a:gd name="adj" fmla="val 8000"/>
            </a:avLst>
          </a:prstGeom>
          <a:solidFill>
            <a:srgbClr val="FFFFFF"/>
          </a:solidFill>
          <a:ln>
            <a:solidFill>
              <a:srgbClr val="D7D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48640" y="2743200"/>
            <a:ext cx="109728" cy="1444752"/>
          </a:xfrm>
          <a:prstGeom prst="rect">
            <a:avLst/>
          </a:prstGeom>
          <a:solidFill>
            <a:srgbClr val="1F4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2834640"/>
            <a:ext cx="10424160" cy="1234440"/>
          </a:xfrm>
          <a:prstGeom prst="rect">
            <a:avLst/>
          </a:prstGeom>
          <a:noFill/>
        </p:spPr>
        <p:txBody>
          <a:bodyPr wrap="square">
            <a:spAutoFit/>
          </a:bodyPr>
          <a:lstStyle/>
          <a:p>
            <a:pPr algn="l"/>
            <a:r>
              <a:rPr sz="2000" b="1">
                <a:solidFill>
                  <a:srgbClr val="1F4E9B"/>
                </a:solidFill>
                <a:latin typeface="Calibri"/>
              </a:rPr>
              <a:t>METHOD_B</a:t>
            </a:r>
          </a:p>
          <a:p>
            <a:pPr>
              <a:spcBef>
                <a:spcPts val="800"/>
              </a:spcBef>
              <a:spcAft>
                <a:spcPts val="400"/>
              </a:spcAft>
            </a:pPr>
            <a:r>
              <a:rPr sz="1700" b="0">
                <a:solidFill>
                  <a:srgbClr val="1F2A44"/>
                </a:solidFill>
                <a:latin typeface="Calibri"/>
              </a:rPr>
              <a:t>Ridge’in yakalayamadığı ek yapı modellenecek şekilde ekleniyor; tahmin bu bileşenle iyileştiriliyor.</a:t>
            </a:r>
          </a:p>
        </p:txBody>
      </p:sp>
      <p:sp>
        <p:nvSpPr>
          <p:cNvPr id="11" name="Rounded Rectangle 10"/>
          <p:cNvSpPr/>
          <p:nvPr/>
        </p:nvSpPr>
        <p:spPr>
          <a:xfrm>
            <a:off x="548640" y="4343400"/>
            <a:ext cx="11064240" cy="1444752"/>
          </a:xfrm>
          <a:prstGeom prst="roundRect">
            <a:avLst>
              <a:gd name="adj" fmla="val 8000"/>
            </a:avLst>
          </a:prstGeom>
          <a:solidFill>
            <a:srgbClr val="FFFFFF"/>
          </a:solidFill>
          <a:ln>
            <a:solidFill>
              <a:srgbClr val="D7D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48640" y="4343400"/>
            <a:ext cx="109728" cy="1444752"/>
          </a:xfrm>
          <a:prstGeom prst="rect">
            <a:avLst/>
          </a:prstGeom>
          <a:solidFill>
            <a:srgbClr val="1F4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14400" y="4434840"/>
            <a:ext cx="10424160" cy="1234440"/>
          </a:xfrm>
          <a:prstGeom prst="rect">
            <a:avLst/>
          </a:prstGeom>
          <a:noFill/>
        </p:spPr>
        <p:txBody>
          <a:bodyPr wrap="square">
            <a:spAutoFit/>
          </a:bodyPr>
          <a:lstStyle/>
          <a:p>
            <a:pPr algn="l"/>
            <a:r>
              <a:rPr sz="2000" b="1">
                <a:solidFill>
                  <a:srgbClr val="1F4E9B"/>
                </a:solidFill>
                <a:latin typeface="Calibri"/>
              </a:rPr>
              <a:t>AR(1)</a:t>
            </a:r>
          </a:p>
          <a:p>
            <a:pPr>
              <a:spcBef>
                <a:spcPts val="800"/>
              </a:spcBef>
              <a:spcAft>
                <a:spcPts val="400"/>
              </a:spcAft>
            </a:pPr>
            <a:r>
              <a:rPr sz="1700" b="0">
                <a:solidFill>
                  <a:srgbClr val="1F2A44"/>
                </a:solidFill>
                <a:latin typeface="Calibri"/>
              </a:rPr>
              <a:t>Ridge artığındaki bir önceki zaman adımı kullanılarak zamansal bağımlılık yakalanıyor.</a:t>
            </a:r>
          </a:p>
        </p:txBody>
      </p:sp>
      <p:sp>
        <p:nvSpPr>
          <p:cNvPr id="14" name="TextBox 13"/>
          <p:cNvSpPr txBox="1"/>
          <p:nvPr/>
        </p:nvSpPr>
        <p:spPr>
          <a:xfrm>
            <a:off x="548640" y="6537960"/>
            <a:ext cx="10515600" cy="256032"/>
          </a:xfrm>
          <a:prstGeom prst="rect">
            <a:avLst/>
          </a:prstGeom>
          <a:noFill/>
        </p:spPr>
        <p:txBody>
          <a:bodyPr wrap="none">
            <a:spAutoFit/>
          </a:bodyPr>
          <a:lstStyle/>
          <a:p>
            <a:pPr algn="l"/>
            <a:r>
              <a:rPr sz="1100" b="0">
                <a:solidFill>
                  <a:srgbClr val="5B6B84"/>
                </a:solidFill>
                <a:latin typeface="Calibri"/>
              </a:rPr>
              <a:t>Elektrik Piyasası Fiyat Tahmini   ·   5 / 10</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F4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
            <a:ext cx="10972800" cy="292608"/>
          </a:xfrm>
          <a:prstGeom prst="rect">
            <a:avLst/>
          </a:prstGeom>
          <a:noFill/>
        </p:spPr>
        <p:txBody>
          <a:bodyPr wrap="none">
            <a:spAutoFit/>
          </a:bodyPr>
          <a:lstStyle/>
          <a:p>
            <a:pPr algn="l"/>
            <a:r>
              <a:rPr sz="1200" b="1">
                <a:solidFill>
                  <a:srgbClr val="5B6B84"/>
                </a:solidFill>
                <a:latin typeface="Calibri"/>
              </a:rPr>
              <a:t>04  ·  KILITLI TEST</a:t>
            </a:r>
          </a:p>
        </p:txBody>
      </p:sp>
      <p:sp>
        <p:nvSpPr>
          <p:cNvPr id="4" name="TextBox 3"/>
          <p:cNvSpPr txBox="1"/>
          <p:nvPr/>
        </p:nvSpPr>
        <p:spPr>
          <a:xfrm>
            <a:off x="548640" y="475488"/>
            <a:ext cx="11064240" cy="502920"/>
          </a:xfrm>
          <a:prstGeom prst="rect">
            <a:avLst/>
          </a:prstGeom>
          <a:noFill/>
        </p:spPr>
        <p:txBody>
          <a:bodyPr wrap="none">
            <a:spAutoFit/>
          </a:bodyPr>
          <a:lstStyle/>
          <a:p>
            <a:pPr algn="l"/>
            <a:r>
              <a:rPr sz="2800" b="1">
                <a:solidFill>
                  <a:srgbClr val="1F2A44"/>
                </a:solidFill>
                <a:latin typeface="Calibri"/>
              </a:rPr>
              <a:t>Kilitli sonuç</a:t>
            </a:r>
          </a:p>
        </p:txBody>
      </p:sp>
      <p:sp>
        <p:nvSpPr>
          <p:cNvPr id="5" name="Rounded Rectangle 4"/>
          <p:cNvSpPr/>
          <p:nvPr/>
        </p:nvSpPr>
        <p:spPr>
          <a:xfrm>
            <a:off x="548640" y="1051560"/>
            <a:ext cx="3566160" cy="1051560"/>
          </a:xfrm>
          <a:prstGeom prst="roundRect">
            <a:avLst>
              <a:gd name="adj" fmla="val 8000"/>
            </a:avLst>
          </a:prstGeom>
          <a:solidFill>
            <a:srgbClr val="F3F6FB"/>
          </a:solidFill>
          <a:ln w="15875">
            <a:solidFill>
              <a:srgbClr val="1F4E9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200" b="0">
                <a:solidFill>
                  <a:srgbClr val="5B6B84"/>
                </a:solidFill>
                <a:latin typeface="Calibri"/>
              </a:rPr>
              <a:t>MAE</a:t>
            </a:r>
          </a:p>
          <a:p>
            <a:pPr>
              <a:spcBef>
                <a:spcPts val="400"/>
              </a:spcBef>
            </a:pPr>
            <a:r>
              <a:rPr sz="2200" b="1">
                <a:solidFill>
                  <a:srgbClr val="1F4E9B"/>
                </a:solidFill>
                <a:latin typeface="Calibri"/>
              </a:rPr>
              <a:t>3,99 €/MWh</a:t>
            </a:r>
          </a:p>
        </p:txBody>
      </p:sp>
      <p:sp>
        <p:nvSpPr>
          <p:cNvPr id="6" name="Rounded Rectangle 5"/>
          <p:cNvSpPr/>
          <p:nvPr/>
        </p:nvSpPr>
        <p:spPr>
          <a:xfrm>
            <a:off x="4297680" y="1051560"/>
            <a:ext cx="3566160" cy="1051560"/>
          </a:xfrm>
          <a:prstGeom prst="roundRect">
            <a:avLst>
              <a:gd name="adj" fmla="val 8000"/>
            </a:avLst>
          </a:prstGeom>
          <a:solidFill>
            <a:srgbClr val="FFFFFF"/>
          </a:solidFill>
          <a:ln w="15875">
            <a:solidFill>
              <a:srgbClr val="D7DEE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200" b="0">
                <a:solidFill>
                  <a:srgbClr val="5B6B84"/>
                </a:solidFill>
                <a:latin typeface="Calibri"/>
              </a:rPr>
              <a:t>Naive Lag-24</a:t>
            </a:r>
          </a:p>
          <a:p>
            <a:pPr>
              <a:spcBef>
                <a:spcPts val="400"/>
              </a:spcBef>
            </a:pPr>
            <a:r>
              <a:rPr sz="2200" b="1">
                <a:solidFill>
                  <a:srgbClr val="1F2A44"/>
                </a:solidFill>
                <a:latin typeface="Calibri"/>
              </a:rPr>
              <a:t>6,05 €/MWh</a:t>
            </a:r>
          </a:p>
        </p:txBody>
      </p:sp>
      <p:sp>
        <p:nvSpPr>
          <p:cNvPr id="7" name="Rounded Rectangle 6"/>
          <p:cNvSpPr/>
          <p:nvPr/>
        </p:nvSpPr>
        <p:spPr>
          <a:xfrm>
            <a:off x="8046720" y="1051560"/>
            <a:ext cx="3566160" cy="1051560"/>
          </a:xfrm>
          <a:prstGeom prst="roundRect">
            <a:avLst>
              <a:gd name="adj" fmla="val 8000"/>
            </a:avLst>
          </a:prstGeom>
          <a:solidFill>
            <a:srgbClr val="FFFFFF"/>
          </a:solidFill>
          <a:ln w="15875">
            <a:solidFill>
              <a:srgbClr val="D7DEE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200" b="0">
                <a:solidFill>
                  <a:srgbClr val="5B6B84"/>
                </a:solidFill>
                <a:latin typeface="Calibri"/>
              </a:rPr>
              <a:t>MAE iyileşmesi</a:t>
            </a:r>
          </a:p>
          <a:p>
            <a:pPr>
              <a:spcBef>
                <a:spcPts val="400"/>
              </a:spcBef>
            </a:pPr>
            <a:r>
              <a:rPr sz="2200" b="1">
                <a:solidFill>
                  <a:srgbClr val="1F2A44"/>
                </a:solidFill>
                <a:latin typeface="Calibri"/>
              </a:rPr>
              <a:t>≈ %34</a:t>
            </a:r>
          </a:p>
        </p:txBody>
      </p:sp>
      <p:sp>
        <p:nvSpPr>
          <p:cNvPr id="8" name="TextBox 7"/>
          <p:cNvSpPr txBox="1"/>
          <p:nvPr/>
        </p:nvSpPr>
        <p:spPr>
          <a:xfrm>
            <a:off x="548640" y="2194560"/>
            <a:ext cx="11064240" cy="777240"/>
          </a:xfrm>
          <a:prstGeom prst="rect">
            <a:avLst/>
          </a:prstGeom>
          <a:noFill/>
        </p:spPr>
        <p:txBody>
          <a:bodyPr wrap="square">
            <a:spAutoFit/>
          </a:bodyPr>
          <a:lstStyle/>
          <a:p>
            <a:pPr algn="l"/>
            <a:r>
              <a:rPr sz="1500" b="0">
                <a:solidFill>
                  <a:srgbClr val="1F2A44"/>
                </a:solidFill>
                <a:latin typeface="Calibri"/>
              </a:rPr>
              <a:t>Test seti yalnızca bir kez açıldı. Seçilen modelin ortalama mutlak hatası 3,99 euro, Naive tabanınki 6,05 euro; hata yaklaşık yüzde 34 daha düşük. Bu grafikte gerçek fiyatlarla tahmin karşılaştırılıyor. Henüz oluşmamış gelecek saatler için tahmin üretilmedi.</a:t>
            </a:r>
          </a:p>
        </p:txBody>
      </p:sp>
      <p:pic>
        <p:nvPicPr>
          <p:cNvPr id="9" name="Picture 8" descr="fig_actual_pred.png"/>
          <p:cNvPicPr>
            <a:picLocks noChangeAspect="1"/>
          </p:cNvPicPr>
          <p:nvPr/>
        </p:nvPicPr>
        <p:blipFill>
          <a:blip r:embed="rId3"/>
          <a:stretch>
            <a:fillRect/>
          </a:stretch>
        </p:blipFill>
        <p:spPr>
          <a:xfrm>
            <a:off x="1127760" y="2709039"/>
            <a:ext cx="9459686" cy="3828921"/>
          </a:xfrm>
          <a:prstGeom prst="rect">
            <a:avLst/>
          </a:prstGeom>
        </p:spPr>
      </p:pic>
      <p:sp>
        <p:nvSpPr>
          <p:cNvPr id="10" name="TextBox 9"/>
          <p:cNvSpPr txBox="1"/>
          <p:nvPr/>
        </p:nvSpPr>
        <p:spPr>
          <a:xfrm>
            <a:off x="548640" y="6537960"/>
            <a:ext cx="10515600" cy="256032"/>
          </a:xfrm>
          <a:prstGeom prst="rect">
            <a:avLst/>
          </a:prstGeom>
          <a:noFill/>
        </p:spPr>
        <p:txBody>
          <a:bodyPr wrap="none">
            <a:spAutoFit/>
          </a:bodyPr>
          <a:lstStyle/>
          <a:p>
            <a:pPr algn="l"/>
            <a:r>
              <a:rPr sz="1100" b="0">
                <a:solidFill>
                  <a:srgbClr val="5B6B84"/>
                </a:solidFill>
                <a:latin typeface="Calibri"/>
              </a:rPr>
              <a:t>Elektrik Piyasası Fiyat Tahmini   ·   6 / 10</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F4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
            <a:ext cx="10972800" cy="292608"/>
          </a:xfrm>
          <a:prstGeom prst="rect">
            <a:avLst/>
          </a:prstGeom>
          <a:noFill/>
        </p:spPr>
        <p:txBody>
          <a:bodyPr wrap="none">
            <a:spAutoFit/>
          </a:bodyPr>
          <a:lstStyle/>
          <a:p>
            <a:pPr algn="l"/>
            <a:r>
              <a:rPr sz="1200" b="1">
                <a:solidFill>
                  <a:srgbClr val="5B6B84"/>
                </a:solidFill>
                <a:latin typeface="Calibri"/>
              </a:rPr>
              <a:t>05  ·  HATA ANALIZI</a:t>
            </a:r>
          </a:p>
        </p:txBody>
      </p:sp>
      <p:sp>
        <p:nvSpPr>
          <p:cNvPr id="4" name="TextBox 3"/>
          <p:cNvSpPr txBox="1"/>
          <p:nvPr/>
        </p:nvSpPr>
        <p:spPr>
          <a:xfrm>
            <a:off x="548640" y="475488"/>
            <a:ext cx="11064240" cy="502920"/>
          </a:xfrm>
          <a:prstGeom prst="rect">
            <a:avLst/>
          </a:prstGeom>
          <a:noFill/>
        </p:spPr>
        <p:txBody>
          <a:bodyPr wrap="none">
            <a:spAutoFit/>
          </a:bodyPr>
          <a:lstStyle/>
          <a:p>
            <a:pPr algn="l"/>
            <a:r>
              <a:rPr sz="2800" b="1">
                <a:solidFill>
                  <a:srgbClr val="1F2A44"/>
                </a:solidFill>
                <a:latin typeface="Calibri"/>
              </a:rPr>
              <a:t>Model nerede hata yapıyor?</a:t>
            </a:r>
          </a:p>
        </p:txBody>
      </p:sp>
      <p:sp>
        <p:nvSpPr>
          <p:cNvPr id="5" name="TextBox 4"/>
          <p:cNvSpPr txBox="1"/>
          <p:nvPr/>
        </p:nvSpPr>
        <p:spPr>
          <a:xfrm>
            <a:off x="548640" y="1005840"/>
            <a:ext cx="11064240" cy="822960"/>
          </a:xfrm>
          <a:prstGeom prst="rect">
            <a:avLst/>
          </a:prstGeom>
          <a:noFill/>
        </p:spPr>
        <p:txBody>
          <a:bodyPr wrap="square">
            <a:spAutoFit/>
          </a:bodyPr>
          <a:lstStyle/>
          <a:p>
            <a:pPr algn="l"/>
            <a:r>
              <a:rPr sz="1500" b="0">
                <a:solidFill>
                  <a:srgbClr val="1F2A44"/>
                </a:solidFill>
                <a:latin typeface="Calibri"/>
              </a:rPr>
              <a:t>Artık, tahminden gerçeğin çıkarılmasıyla hesaplanıyor. Pozitif değer aşırı tahmini, negatif değer eksik tahmini gösteriyor. Hata rastgele dağılmıyor. Test döneminde model ortalama olarak biraz yüksek tahmin ediyor ve yüksek fiyatlı saatlerde sapma devam ediyor. Bu yüzden model üretime hazır sayılmıyor.</a:t>
            </a:r>
          </a:p>
        </p:txBody>
      </p:sp>
      <p:pic>
        <p:nvPicPr>
          <p:cNvPr id="6" name="Picture 5" descr="fig_residual.png"/>
          <p:cNvPicPr>
            <a:picLocks noChangeAspect="1"/>
          </p:cNvPicPr>
          <p:nvPr/>
        </p:nvPicPr>
        <p:blipFill>
          <a:blip r:embed="rId3"/>
          <a:stretch>
            <a:fillRect/>
          </a:stretch>
        </p:blipFill>
        <p:spPr>
          <a:xfrm>
            <a:off x="335127" y="2537460"/>
            <a:ext cx="5760720" cy="2194560"/>
          </a:xfrm>
          <a:prstGeom prst="rect">
            <a:avLst/>
          </a:prstGeom>
        </p:spPr>
      </p:pic>
      <p:pic>
        <p:nvPicPr>
          <p:cNvPr id="7" name="Picture 6" descr="fig_quantile.png"/>
          <p:cNvPicPr>
            <a:picLocks noChangeAspect="1"/>
          </p:cNvPicPr>
          <p:nvPr/>
        </p:nvPicPr>
        <p:blipFill>
          <a:blip r:embed="rId4"/>
          <a:stretch>
            <a:fillRect/>
          </a:stretch>
        </p:blipFill>
        <p:spPr>
          <a:xfrm>
            <a:off x="6217920" y="2144268"/>
            <a:ext cx="5394960" cy="2615738"/>
          </a:xfrm>
          <a:prstGeom prst="rect">
            <a:avLst/>
          </a:prstGeom>
        </p:spPr>
      </p:pic>
      <p:sp>
        <p:nvSpPr>
          <p:cNvPr id="8" name="TextBox 7"/>
          <p:cNvSpPr txBox="1"/>
          <p:nvPr/>
        </p:nvSpPr>
        <p:spPr>
          <a:xfrm>
            <a:off x="548640" y="5897880"/>
            <a:ext cx="11064240" cy="502920"/>
          </a:xfrm>
          <a:prstGeom prst="rect">
            <a:avLst/>
          </a:prstGeom>
          <a:noFill/>
        </p:spPr>
        <p:txBody>
          <a:bodyPr wrap="square">
            <a:spAutoFit/>
          </a:bodyPr>
          <a:lstStyle/>
          <a:p>
            <a:pPr algn="l"/>
            <a:r>
              <a:rPr sz="1400" b="0">
                <a:solidFill>
                  <a:srgbClr val="1F2A44"/>
                </a:solidFill>
                <a:latin typeface="Calibri"/>
              </a:rPr>
              <a:t>Geliştirme döneminde yüksek fiyatlarda eksik tahmin görüldü. Kilitli testte sapma tersine döndü. Yüksek fiyatlı saatlerdeki hata iki dönemde de çözülemedi.</a:t>
            </a:r>
          </a:p>
        </p:txBody>
      </p:sp>
      <p:sp>
        <p:nvSpPr>
          <p:cNvPr id="9" name="TextBox 8"/>
          <p:cNvSpPr txBox="1"/>
          <p:nvPr/>
        </p:nvSpPr>
        <p:spPr>
          <a:xfrm>
            <a:off x="548640" y="6537960"/>
            <a:ext cx="10515600" cy="256032"/>
          </a:xfrm>
          <a:prstGeom prst="rect">
            <a:avLst/>
          </a:prstGeom>
          <a:noFill/>
        </p:spPr>
        <p:txBody>
          <a:bodyPr wrap="none">
            <a:spAutoFit/>
          </a:bodyPr>
          <a:lstStyle/>
          <a:p>
            <a:pPr algn="l"/>
            <a:r>
              <a:rPr sz="1100" b="0">
                <a:solidFill>
                  <a:srgbClr val="5B6B84"/>
                </a:solidFill>
                <a:latin typeface="Calibri"/>
              </a:rPr>
              <a:t>Elektrik Piyasası Fiyat Tahmini   ·   7 / 10</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F4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
            <a:ext cx="10972800" cy="292608"/>
          </a:xfrm>
          <a:prstGeom prst="rect">
            <a:avLst/>
          </a:prstGeom>
          <a:noFill/>
        </p:spPr>
        <p:txBody>
          <a:bodyPr wrap="none">
            <a:spAutoFit/>
          </a:bodyPr>
          <a:lstStyle/>
          <a:p>
            <a:pPr algn="l"/>
            <a:r>
              <a:rPr sz="1200" b="1">
                <a:solidFill>
                  <a:srgbClr val="5B6B84"/>
                </a:solidFill>
                <a:latin typeface="Calibri"/>
              </a:rPr>
              <a:t>06  ·  AÇIKLANABILIRLIK</a:t>
            </a:r>
          </a:p>
        </p:txBody>
      </p:sp>
      <p:sp>
        <p:nvSpPr>
          <p:cNvPr id="4" name="TextBox 3"/>
          <p:cNvSpPr txBox="1"/>
          <p:nvPr/>
        </p:nvSpPr>
        <p:spPr>
          <a:xfrm>
            <a:off x="548640" y="475488"/>
            <a:ext cx="11064240" cy="502920"/>
          </a:xfrm>
          <a:prstGeom prst="rect">
            <a:avLst/>
          </a:prstGeom>
          <a:noFill/>
        </p:spPr>
        <p:txBody>
          <a:bodyPr wrap="none">
            <a:spAutoFit/>
          </a:bodyPr>
          <a:lstStyle/>
          <a:p>
            <a:pPr algn="l"/>
            <a:r>
              <a:rPr sz="2800" b="1">
                <a:solidFill>
                  <a:srgbClr val="1F2A44"/>
                </a:solidFill>
                <a:latin typeface="Calibri"/>
              </a:rPr>
              <a:t>Model hangi değişkenlere bakıyor?</a:t>
            </a:r>
          </a:p>
        </p:txBody>
      </p:sp>
      <p:sp>
        <p:nvSpPr>
          <p:cNvPr id="5" name="TextBox 4"/>
          <p:cNvSpPr txBox="1"/>
          <p:nvPr/>
        </p:nvSpPr>
        <p:spPr>
          <a:xfrm>
            <a:off x="548640" y="1005840"/>
            <a:ext cx="11064240" cy="777240"/>
          </a:xfrm>
          <a:prstGeom prst="rect">
            <a:avLst/>
          </a:prstGeom>
          <a:noFill/>
        </p:spPr>
        <p:txBody>
          <a:bodyPr wrap="square">
            <a:spAutoFit/>
          </a:bodyPr>
          <a:lstStyle/>
          <a:p>
            <a:pPr algn="l"/>
            <a:r>
              <a:rPr sz="1600" b="0">
                <a:solidFill>
                  <a:srgbClr val="1F2A44"/>
                </a:solidFill>
                <a:latin typeface="Calibri"/>
              </a:rPr>
              <a:t>SHAP ile modelin hangi değişkenlere daha çok yaslandığına bakılıyor; bu neden-sonuç kanıtlamaz. En güçlü sinyaller geçmiş fiyatlar ve gün öncesi resmi tahminler olarak görülüyor. Ay ve yılın günü gibi takvim değişkenleri tek başına fiyat sürücüsü gibi okunmuyor, çünkü birbirine bağlılar.</a:t>
            </a:r>
          </a:p>
        </p:txBody>
      </p:sp>
      <p:pic>
        <p:nvPicPr>
          <p:cNvPr id="6" name="Picture 5" descr="shap_top.png"/>
          <p:cNvPicPr>
            <a:picLocks noChangeAspect="1"/>
          </p:cNvPicPr>
          <p:nvPr/>
        </p:nvPicPr>
        <p:blipFill>
          <a:blip r:embed="rId3"/>
          <a:stretch>
            <a:fillRect/>
          </a:stretch>
        </p:blipFill>
        <p:spPr>
          <a:xfrm>
            <a:off x="1005840" y="1874519"/>
            <a:ext cx="10058400" cy="4481465"/>
          </a:xfrm>
          <a:prstGeom prst="rect">
            <a:avLst/>
          </a:prstGeom>
        </p:spPr>
      </p:pic>
      <p:sp>
        <p:nvSpPr>
          <p:cNvPr id="7" name="TextBox 6"/>
          <p:cNvSpPr txBox="1"/>
          <p:nvPr/>
        </p:nvSpPr>
        <p:spPr>
          <a:xfrm>
            <a:off x="548640" y="6537960"/>
            <a:ext cx="10515600" cy="256032"/>
          </a:xfrm>
          <a:prstGeom prst="rect">
            <a:avLst/>
          </a:prstGeom>
          <a:noFill/>
        </p:spPr>
        <p:txBody>
          <a:bodyPr wrap="none">
            <a:spAutoFit/>
          </a:bodyPr>
          <a:lstStyle/>
          <a:p>
            <a:pPr algn="l"/>
            <a:r>
              <a:rPr sz="1100" b="0">
                <a:solidFill>
                  <a:srgbClr val="5B6B84"/>
                </a:solidFill>
                <a:latin typeface="Calibri"/>
              </a:rPr>
              <a:t>Elektrik Piyasası Fiyat Tahmini   ·   8 / 10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F4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
            <a:ext cx="10972800" cy="292608"/>
          </a:xfrm>
          <a:prstGeom prst="rect">
            <a:avLst/>
          </a:prstGeom>
          <a:noFill/>
        </p:spPr>
        <p:txBody>
          <a:bodyPr wrap="none">
            <a:spAutoFit/>
          </a:bodyPr>
          <a:lstStyle/>
          <a:p>
            <a:pPr algn="l"/>
            <a:r>
              <a:rPr sz="1200" b="1">
                <a:solidFill>
                  <a:srgbClr val="5B6B84"/>
                </a:solidFill>
                <a:latin typeface="Calibri"/>
              </a:rPr>
              <a:t>07  ·  SIZINTI VE DOĞRULAMA</a:t>
            </a:r>
          </a:p>
        </p:txBody>
      </p:sp>
      <p:sp>
        <p:nvSpPr>
          <p:cNvPr id="4" name="TextBox 3"/>
          <p:cNvSpPr txBox="1"/>
          <p:nvPr/>
        </p:nvSpPr>
        <p:spPr>
          <a:xfrm>
            <a:off x="548640" y="475488"/>
            <a:ext cx="11064240" cy="502920"/>
          </a:xfrm>
          <a:prstGeom prst="rect">
            <a:avLst/>
          </a:prstGeom>
          <a:noFill/>
        </p:spPr>
        <p:txBody>
          <a:bodyPr wrap="none">
            <a:spAutoFit/>
          </a:bodyPr>
          <a:lstStyle/>
          <a:p>
            <a:pPr algn="l"/>
            <a:r>
              <a:rPr sz="2800" b="1">
                <a:solidFill>
                  <a:srgbClr val="1F2A44"/>
                </a:solidFill>
                <a:latin typeface="Calibri"/>
              </a:rPr>
              <a:t>Bu sonuca güvenebilir miyiz?</a:t>
            </a:r>
          </a:p>
        </p:txBody>
      </p:sp>
      <p:sp>
        <p:nvSpPr>
          <p:cNvPr id="5" name="TextBox 4"/>
          <p:cNvSpPr txBox="1"/>
          <p:nvPr/>
        </p:nvSpPr>
        <p:spPr>
          <a:xfrm>
            <a:off x="548640" y="1005840"/>
            <a:ext cx="11064240" cy="777240"/>
          </a:xfrm>
          <a:prstGeom prst="rect">
            <a:avLst/>
          </a:prstGeom>
          <a:noFill/>
        </p:spPr>
        <p:txBody>
          <a:bodyPr wrap="square">
            <a:spAutoFit/>
          </a:bodyPr>
          <a:lstStyle/>
          <a:p>
            <a:pPr algn="l"/>
            <a:r>
              <a:rPr sz="1600" b="0">
                <a:solidFill>
                  <a:srgbClr val="1F2A44"/>
                </a:solidFill>
                <a:latin typeface="Calibri"/>
              </a:rPr>
              <a:t>Bu sonuca güvenmek için bilgi sızıntısı kapatıldı. Veri zamana göre bölündü ve satırlar karıştırılmadı. Aynı saatin gerçekleşen değerleri ve gerçekleşen piyasa fiyatı özellik olarak kullanılmadı. Model walk-forward ile seçildi; test seti ayar için kullanılmadı ve yalnızca bir kez ölçüldü.</a:t>
            </a:r>
          </a:p>
        </p:txBody>
      </p:sp>
      <p:pic>
        <p:nvPicPr>
          <p:cNvPr id="6" name="Picture 5" descr="fig_split.png"/>
          <p:cNvPicPr>
            <a:picLocks noChangeAspect="1"/>
          </p:cNvPicPr>
          <p:nvPr/>
        </p:nvPicPr>
        <p:blipFill>
          <a:blip r:embed="rId3"/>
          <a:stretch>
            <a:fillRect/>
          </a:stretch>
        </p:blipFill>
        <p:spPr>
          <a:xfrm>
            <a:off x="502920" y="1874519"/>
            <a:ext cx="6766560" cy="1779139"/>
          </a:xfrm>
          <a:prstGeom prst="rect">
            <a:avLst/>
          </a:prstGeom>
        </p:spPr>
      </p:pic>
      <p:sp>
        <p:nvSpPr>
          <p:cNvPr id="7" name="Rounded Rectangle 6"/>
          <p:cNvSpPr/>
          <p:nvPr/>
        </p:nvSpPr>
        <p:spPr>
          <a:xfrm>
            <a:off x="7452360" y="1920240"/>
            <a:ext cx="4160520" cy="420624"/>
          </a:xfrm>
          <a:prstGeom prst="roundRect">
            <a:avLst>
              <a:gd name="adj" fmla="val 8000"/>
            </a:avLst>
          </a:prstGeom>
          <a:solidFill>
            <a:srgbClr val="EAF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sz="1300" b="1">
                <a:solidFill>
                  <a:srgbClr val="166534"/>
                </a:solidFill>
                <a:latin typeface="Calibri"/>
              </a:rPr>
              <a:t>  ✓  Sızıntı denetimi geçti</a:t>
            </a:r>
          </a:p>
        </p:txBody>
      </p:sp>
      <p:sp>
        <p:nvSpPr>
          <p:cNvPr id="8" name="Rounded Rectangle 7"/>
          <p:cNvSpPr/>
          <p:nvPr/>
        </p:nvSpPr>
        <p:spPr>
          <a:xfrm>
            <a:off x="7452360" y="2395728"/>
            <a:ext cx="4160520" cy="420624"/>
          </a:xfrm>
          <a:prstGeom prst="roundRect">
            <a:avLst>
              <a:gd name="adj" fmla="val 8000"/>
            </a:avLst>
          </a:prstGeom>
          <a:solidFill>
            <a:srgbClr val="EAF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sz="1300" b="1">
                <a:solidFill>
                  <a:srgbClr val="166534"/>
                </a:solidFill>
                <a:latin typeface="Calibri"/>
              </a:rPr>
              <a:t>  ✓  Kronolojik bölme</a:t>
            </a:r>
          </a:p>
        </p:txBody>
      </p:sp>
      <p:sp>
        <p:nvSpPr>
          <p:cNvPr id="9" name="Rounded Rectangle 8"/>
          <p:cNvSpPr/>
          <p:nvPr/>
        </p:nvSpPr>
        <p:spPr>
          <a:xfrm>
            <a:off x="7452360" y="2871216"/>
            <a:ext cx="4160520" cy="420624"/>
          </a:xfrm>
          <a:prstGeom prst="roundRect">
            <a:avLst>
              <a:gd name="adj" fmla="val 8000"/>
            </a:avLst>
          </a:prstGeom>
          <a:solidFill>
            <a:srgbClr val="EAF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sz="1300" b="1">
                <a:solidFill>
                  <a:srgbClr val="166534"/>
                </a:solidFill>
                <a:latin typeface="Calibri"/>
              </a:rPr>
              <a:t>  ✓  Karıştırma yok</a:t>
            </a:r>
          </a:p>
        </p:txBody>
      </p:sp>
      <p:sp>
        <p:nvSpPr>
          <p:cNvPr id="10" name="Rounded Rectangle 9"/>
          <p:cNvSpPr/>
          <p:nvPr/>
        </p:nvSpPr>
        <p:spPr>
          <a:xfrm>
            <a:off x="7452360" y="3346704"/>
            <a:ext cx="4160520" cy="420624"/>
          </a:xfrm>
          <a:prstGeom prst="roundRect">
            <a:avLst>
              <a:gd name="adj" fmla="val 8000"/>
            </a:avLst>
          </a:prstGeom>
          <a:solidFill>
            <a:srgbClr val="EAF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sz="1300" b="1">
                <a:solidFill>
                  <a:srgbClr val="166534"/>
                </a:solidFill>
                <a:latin typeface="Calibri"/>
              </a:rPr>
              <a:t>  ✓  Gerçekleşen piyasa fiyatı yok</a:t>
            </a:r>
          </a:p>
        </p:txBody>
      </p:sp>
      <p:sp>
        <p:nvSpPr>
          <p:cNvPr id="11" name="Rounded Rectangle 10"/>
          <p:cNvSpPr/>
          <p:nvPr/>
        </p:nvSpPr>
        <p:spPr>
          <a:xfrm>
            <a:off x="7452360" y="3822191"/>
            <a:ext cx="4160520" cy="420624"/>
          </a:xfrm>
          <a:prstGeom prst="roundRect">
            <a:avLst>
              <a:gd name="adj" fmla="val 8000"/>
            </a:avLst>
          </a:prstGeom>
          <a:solidFill>
            <a:srgbClr val="EAF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sz="1300" b="1">
                <a:solidFill>
                  <a:srgbClr val="166534"/>
                </a:solidFill>
                <a:latin typeface="Calibri"/>
              </a:rPr>
              <a:t>  ✓  Aynı saatteki gerçekleşmeler yok</a:t>
            </a:r>
          </a:p>
        </p:txBody>
      </p:sp>
      <p:sp>
        <p:nvSpPr>
          <p:cNvPr id="12" name="Rounded Rectangle 11"/>
          <p:cNvSpPr/>
          <p:nvPr/>
        </p:nvSpPr>
        <p:spPr>
          <a:xfrm>
            <a:off x="7452360" y="4297680"/>
            <a:ext cx="4160520" cy="420624"/>
          </a:xfrm>
          <a:prstGeom prst="roundRect">
            <a:avLst>
              <a:gd name="adj" fmla="val 8000"/>
            </a:avLst>
          </a:prstGeom>
          <a:solidFill>
            <a:srgbClr val="EAF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sz="1300" b="1">
                <a:solidFill>
                  <a:srgbClr val="166534"/>
                </a:solidFill>
                <a:latin typeface="Calibri"/>
              </a:rPr>
              <a:t>  ✓  Gelecek bilgi yok</a:t>
            </a:r>
          </a:p>
        </p:txBody>
      </p:sp>
      <p:sp>
        <p:nvSpPr>
          <p:cNvPr id="13" name="Rounded Rectangle 12"/>
          <p:cNvSpPr/>
          <p:nvPr/>
        </p:nvSpPr>
        <p:spPr>
          <a:xfrm>
            <a:off x="7452360" y="4773168"/>
            <a:ext cx="4160520" cy="420624"/>
          </a:xfrm>
          <a:prstGeom prst="roundRect">
            <a:avLst>
              <a:gd name="adj" fmla="val 8000"/>
            </a:avLst>
          </a:prstGeom>
          <a:solidFill>
            <a:srgbClr val="EAF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sz="1300" b="1">
                <a:solidFill>
                  <a:srgbClr val="166534"/>
                </a:solidFill>
                <a:latin typeface="Calibri"/>
              </a:rPr>
              <a:t>  ✓  Test ayar için kullanılmadı</a:t>
            </a:r>
          </a:p>
        </p:txBody>
      </p:sp>
      <p:sp>
        <p:nvSpPr>
          <p:cNvPr id="14" name="Rounded Rectangle 13"/>
          <p:cNvSpPr/>
          <p:nvPr/>
        </p:nvSpPr>
        <p:spPr>
          <a:xfrm>
            <a:off x="7452360" y="5248656"/>
            <a:ext cx="4160520" cy="420624"/>
          </a:xfrm>
          <a:prstGeom prst="roundRect">
            <a:avLst>
              <a:gd name="adj" fmla="val 8000"/>
            </a:avLst>
          </a:prstGeom>
          <a:solidFill>
            <a:srgbClr val="EAF6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sz="1300" b="1">
                <a:solidFill>
                  <a:srgbClr val="166534"/>
                </a:solidFill>
                <a:latin typeface="Calibri"/>
              </a:rPr>
              <a:t>  ✓  Walk-forward doğrulama</a:t>
            </a:r>
          </a:p>
        </p:txBody>
      </p:sp>
      <p:sp>
        <p:nvSpPr>
          <p:cNvPr id="15" name="TextBox 14"/>
          <p:cNvSpPr txBox="1"/>
          <p:nvPr/>
        </p:nvSpPr>
        <p:spPr>
          <a:xfrm>
            <a:off x="548640" y="6537960"/>
            <a:ext cx="10515600" cy="256032"/>
          </a:xfrm>
          <a:prstGeom prst="rect">
            <a:avLst/>
          </a:prstGeom>
          <a:noFill/>
        </p:spPr>
        <p:txBody>
          <a:bodyPr wrap="none">
            <a:spAutoFit/>
          </a:bodyPr>
          <a:lstStyle/>
          <a:p>
            <a:pPr algn="l"/>
            <a:r>
              <a:rPr sz="1100" b="0">
                <a:solidFill>
                  <a:srgbClr val="5B6B84"/>
                </a:solidFill>
                <a:latin typeface="Calibri"/>
              </a:rPr>
              <a:t>Elektrik Piyasası Fiyat Tahmini   ·   9 / 10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F4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
            <a:ext cx="10972800" cy="292608"/>
          </a:xfrm>
          <a:prstGeom prst="rect">
            <a:avLst/>
          </a:prstGeom>
          <a:noFill/>
        </p:spPr>
        <p:txBody>
          <a:bodyPr wrap="none">
            <a:spAutoFit/>
          </a:bodyPr>
          <a:lstStyle/>
          <a:p>
            <a:pPr algn="l"/>
            <a:r>
              <a:rPr sz="1200" b="1">
                <a:solidFill>
                  <a:srgbClr val="5B6B84"/>
                </a:solidFill>
                <a:latin typeface="Calibri"/>
              </a:rPr>
              <a:t>08  ·  SONUÇ VE SINIRLILIKLAR</a:t>
            </a:r>
          </a:p>
        </p:txBody>
      </p:sp>
      <p:sp>
        <p:nvSpPr>
          <p:cNvPr id="4" name="TextBox 3"/>
          <p:cNvSpPr txBox="1"/>
          <p:nvPr/>
        </p:nvSpPr>
        <p:spPr>
          <a:xfrm>
            <a:off x="548640" y="475488"/>
            <a:ext cx="11064240" cy="502920"/>
          </a:xfrm>
          <a:prstGeom prst="rect">
            <a:avLst/>
          </a:prstGeom>
          <a:noFill/>
        </p:spPr>
        <p:txBody>
          <a:bodyPr wrap="none">
            <a:spAutoFit/>
          </a:bodyPr>
          <a:lstStyle/>
          <a:p>
            <a:pPr algn="l"/>
            <a:r>
              <a:rPr sz="2800" b="1">
                <a:solidFill>
                  <a:srgbClr val="1F2A44"/>
                </a:solidFill>
                <a:latin typeface="Calibri"/>
              </a:rPr>
              <a:t>Sonuç</a:t>
            </a:r>
          </a:p>
        </p:txBody>
      </p:sp>
      <p:sp>
        <p:nvSpPr>
          <p:cNvPr id="5" name="TextBox 4"/>
          <p:cNvSpPr txBox="1"/>
          <p:nvPr/>
        </p:nvSpPr>
        <p:spPr>
          <a:xfrm>
            <a:off x="548640" y="1051560"/>
            <a:ext cx="11064240" cy="1234440"/>
          </a:xfrm>
          <a:prstGeom prst="rect">
            <a:avLst/>
          </a:prstGeom>
          <a:noFill/>
        </p:spPr>
        <p:txBody>
          <a:bodyPr wrap="square">
            <a:spAutoFit/>
          </a:bodyPr>
          <a:lstStyle/>
          <a:p>
            <a:pPr algn="l"/>
            <a:r>
              <a:rPr sz="1700" b="0">
                <a:solidFill>
                  <a:srgbClr val="1F2A44"/>
                </a:solidFill>
                <a:latin typeface="Calibri"/>
              </a:rPr>
              <a:t>Sızıntısız bir tahmin hattı kuruldu ve dünün aynı saatini kopyalayan Naive taban geçildi. Model olarak Ridge, METHOD_B ve AR(1) birleşimi seçildi. Kilitli testte ortalama mutlak hata yaklaşık yüzde 34 düşürüldü. Yüksek fiyatlı saatlerdeki hata çözülemedi; veri 2014–2018 aralığında ve test tek bir kilitli dönemde ölçüldü.</a:t>
            </a:r>
          </a:p>
        </p:txBody>
      </p:sp>
      <p:sp>
        <p:nvSpPr>
          <p:cNvPr id="6" name="Rounded Rectangle 5"/>
          <p:cNvSpPr/>
          <p:nvPr/>
        </p:nvSpPr>
        <p:spPr>
          <a:xfrm>
            <a:off x="548640" y="2468880"/>
            <a:ext cx="3566160" cy="1143000"/>
          </a:xfrm>
          <a:prstGeom prst="roundRect">
            <a:avLst>
              <a:gd name="adj" fmla="val 8000"/>
            </a:avLst>
          </a:prstGeom>
          <a:solidFill>
            <a:srgbClr val="FFFFFF"/>
          </a:solidFill>
          <a:ln w="15875">
            <a:solidFill>
              <a:srgbClr val="D7DEE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200" b="0">
                <a:solidFill>
                  <a:srgbClr val="5B6B84"/>
                </a:solidFill>
                <a:latin typeface="Calibri"/>
              </a:rPr>
              <a:t>Sızıntısız hat</a:t>
            </a:r>
          </a:p>
          <a:p>
            <a:pPr>
              <a:spcBef>
                <a:spcPts val="400"/>
              </a:spcBef>
            </a:pPr>
            <a:r>
              <a:rPr sz="2200" b="1">
                <a:solidFill>
                  <a:srgbClr val="1F2A44"/>
                </a:solidFill>
                <a:latin typeface="Calibri"/>
              </a:rPr>
              <a:t>Kronolojik bölme, walk-forward</a:t>
            </a:r>
          </a:p>
        </p:txBody>
      </p:sp>
      <p:sp>
        <p:nvSpPr>
          <p:cNvPr id="7" name="Rounded Rectangle 6"/>
          <p:cNvSpPr/>
          <p:nvPr/>
        </p:nvSpPr>
        <p:spPr>
          <a:xfrm>
            <a:off x="4297679" y="2468880"/>
            <a:ext cx="3566160" cy="1143000"/>
          </a:xfrm>
          <a:prstGeom prst="roundRect">
            <a:avLst>
              <a:gd name="adj" fmla="val 8000"/>
            </a:avLst>
          </a:prstGeom>
          <a:solidFill>
            <a:srgbClr val="FFFFFF"/>
          </a:solidFill>
          <a:ln w="15875">
            <a:solidFill>
              <a:srgbClr val="D7DEE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200" b="0">
                <a:solidFill>
                  <a:srgbClr val="5B6B84"/>
                </a:solidFill>
                <a:latin typeface="Calibri"/>
              </a:rPr>
              <a:t>Seçilen model</a:t>
            </a:r>
          </a:p>
          <a:p>
            <a:pPr>
              <a:spcBef>
                <a:spcPts val="400"/>
              </a:spcBef>
            </a:pPr>
            <a:r>
              <a:rPr sz="2200" b="1">
                <a:solidFill>
                  <a:srgbClr val="1F2A44"/>
                </a:solidFill>
                <a:latin typeface="Calibri"/>
              </a:rPr>
              <a:t>Ridge + METHOD_B + AR(1)</a:t>
            </a:r>
          </a:p>
        </p:txBody>
      </p:sp>
      <p:sp>
        <p:nvSpPr>
          <p:cNvPr id="8" name="Rounded Rectangle 7"/>
          <p:cNvSpPr/>
          <p:nvPr/>
        </p:nvSpPr>
        <p:spPr>
          <a:xfrm>
            <a:off x="8046719" y="2468880"/>
            <a:ext cx="3566160" cy="1143000"/>
          </a:xfrm>
          <a:prstGeom prst="roundRect">
            <a:avLst>
              <a:gd name="adj" fmla="val 8000"/>
            </a:avLst>
          </a:prstGeom>
          <a:solidFill>
            <a:srgbClr val="F3F6FB"/>
          </a:solidFill>
          <a:ln w="15875">
            <a:solidFill>
              <a:srgbClr val="1F4E9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200" b="0">
                <a:solidFill>
                  <a:srgbClr val="5B6B84"/>
                </a:solidFill>
                <a:latin typeface="Calibri"/>
              </a:rPr>
              <a:t>Kilitli MAE</a:t>
            </a:r>
          </a:p>
          <a:p>
            <a:pPr>
              <a:spcBef>
                <a:spcPts val="400"/>
              </a:spcBef>
            </a:pPr>
            <a:r>
              <a:rPr sz="2200" b="1">
                <a:solidFill>
                  <a:srgbClr val="1F4E9B"/>
                </a:solidFill>
                <a:latin typeface="Calibri"/>
              </a:rPr>
              <a:t>3,99 €/MWh  ·  Naive’e göre ≈ %34</a:t>
            </a:r>
          </a:p>
        </p:txBody>
      </p:sp>
      <p:sp>
        <p:nvSpPr>
          <p:cNvPr id="9" name="Rounded Rectangle 8"/>
          <p:cNvSpPr/>
          <p:nvPr/>
        </p:nvSpPr>
        <p:spPr>
          <a:xfrm>
            <a:off x="548640" y="3840480"/>
            <a:ext cx="5486400" cy="1051560"/>
          </a:xfrm>
          <a:prstGeom prst="roundRect">
            <a:avLst>
              <a:gd name="adj" fmla="val 8000"/>
            </a:avLst>
          </a:prstGeom>
          <a:solidFill>
            <a:srgbClr val="FDECE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300" b="1">
                <a:solidFill>
                  <a:srgbClr val="9B1C1C"/>
                </a:solidFill>
                <a:latin typeface="Calibri"/>
              </a:rPr>
              <a:t>Sınırlılık</a:t>
            </a:r>
          </a:p>
          <a:p>
            <a:pPr>
              <a:spcBef>
                <a:spcPts val="400"/>
              </a:spcBef>
              <a:spcAft>
                <a:spcPts val="400"/>
              </a:spcAft>
            </a:pPr>
            <a:r>
              <a:rPr sz="1500" b="0">
                <a:solidFill>
                  <a:srgbClr val="1F2A44"/>
                </a:solidFill>
                <a:latin typeface="Calibri"/>
              </a:rPr>
              <a:t>Yüksek fiyatlı saatlerde hata devam ediyor.</a:t>
            </a:r>
          </a:p>
        </p:txBody>
      </p:sp>
      <p:sp>
        <p:nvSpPr>
          <p:cNvPr id="10" name="Rounded Rectangle 9"/>
          <p:cNvSpPr/>
          <p:nvPr/>
        </p:nvSpPr>
        <p:spPr>
          <a:xfrm>
            <a:off x="6217920" y="3840480"/>
            <a:ext cx="5394960" cy="1051560"/>
          </a:xfrm>
          <a:prstGeom prst="roundRect">
            <a:avLst>
              <a:gd name="adj" fmla="val 8000"/>
            </a:avLst>
          </a:prstGeom>
          <a:solidFill>
            <a:srgbClr val="FDECE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300" b="1">
                <a:solidFill>
                  <a:srgbClr val="9B1C1C"/>
                </a:solidFill>
                <a:latin typeface="Calibri"/>
              </a:rPr>
              <a:t>Sınırlılık</a:t>
            </a:r>
          </a:p>
          <a:p>
            <a:pPr>
              <a:spcBef>
                <a:spcPts val="400"/>
              </a:spcBef>
              <a:spcAft>
                <a:spcPts val="400"/>
              </a:spcAft>
            </a:pPr>
            <a:r>
              <a:rPr sz="1500" b="0">
                <a:solidFill>
                  <a:srgbClr val="1F2A44"/>
                </a:solidFill>
                <a:latin typeface="Calibri"/>
              </a:rPr>
              <a:t>Veri 2014–2018 · test tek kilitli dönem.</a:t>
            </a:r>
          </a:p>
        </p:txBody>
      </p:sp>
      <p:sp>
        <p:nvSpPr>
          <p:cNvPr id="11" name="Rounded Rectangle 10"/>
          <p:cNvSpPr/>
          <p:nvPr/>
        </p:nvSpPr>
        <p:spPr>
          <a:xfrm>
            <a:off x="548640" y="5074920"/>
            <a:ext cx="11064240" cy="1051560"/>
          </a:xfrm>
          <a:prstGeom prst="roundRect">
            <a:avLst>
              <a:gd name="adj" fmla="val 8000"/>
            </a:avLst>
          </a:prstGeom>
          <a:solidFill>
            <a:srgbClr val="EAF6EE"/>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700" b="1">
                <a:solidFill>
                  <a:srgbClr val="166534"/>
                </a:solidFill>
                <a:latin typeface="Calibri"/>
              </a:rPr>
              <a:t>Sızıntısız zaman serisi modeli kuruldu ve dünün aynı saatini kopyalayan tabandan belirgin şekilde daha iyi gün öncesi elektrik fiyat tahmini alındı.</a:t>
            </a:r>
          </a:p>
        </p:txBody>
      </p:sp>
      <p:sp>
        <p:nvSpPr>
          <p:cNvPr id="12" name="TextBox 11"/>
          <p:cNvSpPr txBox="1"/>
          <p:nvPr/>
        </p:nvSpPr>
        <p:spPr>
          <a:xfrm>
            <a:off x="548640" y="6537960"/>
            <a:ext cx="10515600" cy="256032"/>
          </a:xfrm>
          <a:prstGeom prst="rect">
            <a:avLst/>
          </a:prstGeom>
          <a:noFill/>
        </p:spPr>
        <p:txBody>
          <a:bodyPr wrap="none">
            <a:spAutoFit/>
          </a:bodyPr>
          <a:lstStyle/>
          <a:p>
            <a:pPr algn="l"/>
            <a:r>
              <a:rPr sz="1100" b="0">
                <a:solidFill>
                  <a:srgbClr val="5B6B84"/>
                </a:solidFill>
                <a:latin typeface="Calibri"/>
              </a:rPr>
              <a:t>Elektrik Piyasası Fiyat Tahmini   ·   10 /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1381</Words>
  <Application>Microsoft Macintosh PowerPoint</Application>
  <PresentationFormat>Geniş ekran</PresentationFormat>
  <Paragraphs>103</Paragraphs>
  <Slides>10</Slides>
  <Notes>10</Notes>
  <HiddenSlides>0</HiddenSlides>
  <MMClips>0</MMClips>
  <ScaleCrop>false</ScaleCrop>
  <HeadingPairs>
    <vt:vector size="6" baseType="variant">
      <vt:variant>
        <vt:lpstr>Kullanılan Yazı Tipleri</vt:lpstr>
      </vt:variant>
      <vt:variant>
        <vt:i4>2</vt:i4>
      </vt:variant>
      <vt:variant>
        <vt:lpstr>Tema</vt:lpstr>
      </vt:variant>
      <vt:variant>
        <vt:i4>1</vt:i4>
      </vt:variant>
      <vt:variant>
        <vt:lpstr>Slayt Başlıkları</vt:lpstr>
      </vt:variant>
      <vt:variant>
        <vt:i4>10</vt:i4>
      </vt:variant>
    </vt:vector>
  </HeadingPairs>
  <TitlesOfParts>
    <vt:vector size="13" baseType="lpstr">
      <vt:lpstr>Arial</vt:lpstr>
      <vt:lpstr>Calibri</vt:lpstr>
      <vt:lpstr>Office Theme</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İBRAHİM CAN</cp:lastModifiedBy>
  <cp:revision>3</cp:revision>
  <dcterms:created xsi:type="dcterms:W3CDTF">2013-01-27T09:14:16Z</dcterms:created>
  <dcterms:modified xsi:type="dcterms:W3CDTF">2026-08-28T07:11:20Z</dcterms:modified>
  <cp:category/>
</cp:coreProperties>
</file>